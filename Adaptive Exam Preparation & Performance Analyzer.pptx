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3" r:id="rId7"/>
    <p:sldId id="260" r:id="rId8"/>
    <p:sldId id="261" r:id="rId9"/>
  </p:sldIdLst>
  <p:sldSz cx="18288000" cy="10287000"/>
  <p:notesSz cx="6858000" cy="9144000"/>
  <p:embeddedFontLst>
    <p:embeddedFont>
      <p:font typeface="Source Sans Pro" panose="020B0503030403020204" pitchFamily="34" charset="0"/>
      <p:regular r:id="rId10"/>
    </p:embeddedFont>
    <p:embeddedFont>
      <p:font typeface="Source Sans Pro Bold" panose="020B0604020202020204" charset="0"/>
      <p:regular r:id="rId11"/>
    </p:embeddedFont>
    <p:embeddedFont>
      <p:font typeface="TT Marxiana Antigua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3139836" y="1998602"/>
            <a:ext cx="12096818" cy="4737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99"/>
              </a:lnSpc>
            </a:pPr>
            <a:r>
              <a:rPr lang="en-US" sz="9999" dirty="0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Adaptive Exam Preparation &amp; Performance Analyzer</a:t>
            </a:r>
          </a:p>
          <a:p>
            <a:pPr algn="ctr">
              <a:lnSpc>
                <a:spcPts val="9199"/>
              </a:lnSpc>
            </a:pPr>
            <a:endParaRPr lang="en-US" sz="9999" dirty="0">
              <a:solidFill>
                <a:srgbClr val="3F5163"/>
              </a:solidFill>
              <a:latin typeface="TT Marxiana Antigua"/>
              <a:ea typeface="TT Marxiana Antigua"/>
              <a:cs typeface="TT Marxiana Antigua"/>
              <a:sym typeface="TT Marxiana Antigu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149347" y="5793325"/>
            <a:ext cx="998930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By Aryan Patel &amp;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Sakshi Pandya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31407" y="3277724"/>
            <a:ext cx="6700819" cy="6483145"/>
            <a:chOff x="0" y="0"/>
            <a:chExt cx="1764825" cy="17074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4825" cy="1707495"/>
            </a:xfrm>
            <a:custGeom>
              <a:avLst/>
              <a:gdLst/>
              <a:ahLst/>
              <a:cxnLst/>
              <a:rect l="l" t="t" r="r" b="b"/>
              <a:pathLst>
                <a:path w="1764825" h="1707495">
                  <a:moveTo>
                    <a:pt x="58924" y="0"/>
                  </a:moveTo>
                  <a:lnTo>
                    <a:pt x="1705901" y="0"/>
                  </a:lnTo>
                  <a:cubicBezTo>
                    <a:pt x="1721529" y="0"/>
                    <a:pt x="1736516" y="6208"/>
                    <a:pt x="1747566" y="17258"/>
                  </a:cubicBezTo>
                  <a:cubicBezTo>
                    <a:pt x="1758617" y="28309"/>
                    <a:pt x="1764825" y="43296"/>
                    <a:pt x="1764825" y="58924"/>
                  </a:cubicBezTo>
                  <a:lnTo>
                    <a:pt x="1764825" y="1648571"/>
                  </a:lnTo>
                  <a:cubicBezTo>
                    <a:pt x="1764825" y="1681114"/>
                    <a:pt x="1738444" y="1707495"/>
                    <a:pt x="1705901" y="1707495"/>
                  </a:cubicBezTo>
                  <a:lnTo>
                    <a:pt x="58924" y="1707495"/>
                  </a:lnTo>
                  <a:cubicBezTo>
                    <a:pt x="43296" y="1707495"/>
                    <a:pt x="28309" y="1701287"/>
                    <a:pt x="17258" y="1690237"/>
                  </a:cubicBezTo>
                  <a:cubicBezTo>
                    <a:pt x="6208" y="1679186"/>
                    <a:pt x="0" y="1664199"/>
                    <a:pt x="0" y="1648571"/>
                  </a:cubicBezTo>
                  <a:lnTo>
                    <a:pt x="0" y="58924"/>
                  </a:lnTo>
                  <a:cubicBezTo>
                    <a:pt x="0" y="43296"/>
                    <a:pt x="6208" y="28309"/>
                    <a:pt x="17258" y="17258"/>
                  </a:cubicBezTo>
                  <a:cubicBezTo>
                    <a:pt x="28309" y="6208"/>
                    <a:pt x="43296" y="0"/>
                    <a:pt x="58924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64825" cy="1745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07102" y="1526733"/>
            <a:ext cx="16441907" cy="125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Problem and Approch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034" y="3826477"/>
            <a:ext cx="5694745" cy="523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26" lvl="1" indent="-399413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Study material is scattered across PDFs, scanned question banks, and handwritten notes</a:t>
            </a:r>
          </a:p>
          <a:p>
            <a:pPr marL="798826" lvl="1" indent="-399413" algn="l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Generic quizzes ignore each student’s actual proficiency and readiness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74149" y="3254383"/>
            <a:ext cx="6902209" cy="6441359"/>
            <a:chOff x="0" y="0"/>
            <a:chExt cx="1817866" cy="1696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17866" cy="1696490"/>
            </a:xfrm>
            <a:custGeom>
              <a:avLst/>
              <a:gdLst/>
              <a:ahLst/>
              <a:cxnLst/>
              <a:rect l="l" t="t" r="r" b="b"/>
              <a:pathLst>
                <a:path w="1817866" h="1696490">
                  <a:moveTo>
                    <a:pt x="57205" y="0"/>
                  </a:moveTo>
                  <a:lnTo>
                    <a:pt x="1760661" y="0"/>
                  </a:lnTo>
                  <a:cubicBezTo>
                    <a:pt x="1775833" y="0"/>
                    <a:pt x="1790383" y="6027"/>
                    <a:pt x="1801111" y="16755"/>
                  </a:cubicBezTo>
                  <a:cubicBezTo>
                    <a:pt x="1811839" y="27483"/>
                    <a:pt x="1817866" y="42033"/>
                    <a:pt x="1817866" y="57205"/>
                  </a:cubicBezTo>
                  <a:lnTo>
                    <a:pt x="1817866" y="1639285"/>
                  </a:lnTo>
                  <a:cubicBezTo>
                    <a:pt x="1817866" y="1654457"/>
                    <a:pt x="1811839" y="1669007"/>
                    <a:pt x="1801111" y="1679735"/>
                  </a:cubicBezTo>
                  <a:cubicBezTo>
                    <a:pt x="1790383" y="1690463"/>
                    <a:pt x="1775833" y="1696490"/>
                    <a:pt x="1760661" y="1696490"/>
                  </a:cubicBezTo>
                  <a:lnTo>
                    <a:pt x="57205" y="1696490"/>
                  </a:lnTo>
                  <a:cubicBezTo>
                    <a:pt x="42033" y="1696490"/>
                    <a:pt x="27483" y="1690463"/>
                    <a:pt x="16755" y="1679735"/>
                  </a:cubicBezTo>
                  <a:cubicBezTo>
                    <a:pt x="6027" y="1669007"/>
                    <a:pt x="0" y="1654457"/>
                    <a:pt x="0" y="1639285"/>
                  </a:cubicBezTo>
                  <a:lnTo>
                    <a:pt x="0" y="57205"/>
                  </a:lnTo>
                  <a:cubicBezTo>
                    <a:pt x="0" y="42033"/>
                    <a:pt x="6027" y="27483"/>
                    <a:pt x="16755" y="16755"/>
                  </a:cubicBezTo>
                  <a:cubicBezTo>
                    <a:pt x="27483" y="6027"/>
                    <a:pt x="42033" y="0"/>
                    <a:pt x="57205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17866" cy="1734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516750" y="3816952"/>
            <a:ext cx="6255125" cy="5089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Upload any material into isolated per-user workspace</a:t>
            </a:r>
          </a:p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Extract topics automatically with local OCR = NPL (no third party AI APIs</a:t>
            </a:r>
          </a:p>
          <a:p>
            <a:pPr marL="777237" lvl="1" indent="-388618" algn="l">
              <a:lnSpc>
                <a:spcPts val="5039"/>
              </a:lnSpc>
              <a:buFont typeface="Arial"/>
              <a:buChar char="•"/>
            </a:pPr>
            <a:r>
              <a:rPr lang="en-US" sz="35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Track progress with an ML-driven exam-readiness score</a:t>
            </a:r>
          </a:p>
          <a:p>
            <a:pPr algn="l">
              <a:lnSpc>
                <a:spcPts val="5039"/>
              </a:lnSpc>
            </a:pPr>
            <a:endParaRPr lang="en-US" sz="3599" dirty="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3275353"/>
            <a:ext cx="7268975" cy="2922700"/>
            <a:chOff x="0" y="0"/>
            <a:chExt cx="1914463" cy="7697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728056" y="6695724"/>
            <a:ext cx="7268975" cy="2922700"/>
            <a:chOff x="0" y="0"/>
            <a:chExt cx="1914463" cy="7697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6695724"/>
            <a:ext cx="7268975" cy="2922700"/>
            <a:chOff x="0" y="0"/>
            <a:chExt cx="1914463" cy="7697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28056" y="3277724"/>
            <a:ext cx="7268975" cy="2922700"/>
            <a:chOff x="0" y="0"/>
            <a:chExt cx="1914463" cy="7697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07102" y="614869"/>
            <a:ext cx="16441907" cy="241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Built on a modern &amp;</a:t>
            </a:r>
          </a:p>
          <a:p>
            <a:pPr algn="l">
              <a:lnSpc>
                <a:spcPts val="9199"/>
              </a:lnSpc>
            </a:pPr>
            <a:r>
              <a:rPr lang="en-US" sz="9999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Self-hosted stack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3927" y="3655338"/>
            <a:ext cx="6518519" cy="2095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 dirty="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Backend</a:t>
            </a: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Django 5.2 + DRF, JWT auth, standardized JSON responses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3617198"/>
            <a:ext cx="6149063" cy="2115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Frontend</a:t>
            </a: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React + Vite, connecting to backend via API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8656" y="6713719"/>
            <a:ext cx="6149063" cy="280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OCR/ NLP/ ML </a:t>
            </a:r>
          </a:p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EasyOCR, OpenCV, Camelot and a Gradient Boosting readiness model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28056" y="6790974"/>
            <a:ext cx="6709019" cy="2839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dirty="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Infrastructure</a:t>
            </a:r>
          </a:p>
          <a:p>
            <a:pPr algn="ctr">
              <a:lnSpc>
                <a:spcPts val="5459"/>
              </a:lnSpc>
            </a:pPr>
            <a:r>
              <a:rPr lang="en-US" sz="38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PostgreSQL, </a:t>
            </a:r>
            <a:r>
              <a:rPr lang="en-US" sz="3899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MinIO</a:t>
            </a:r>
            <a:r>
              <a:rPr lang="en-US" sz="38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(S3-complatible), </a:t>
            </a:r>
            <a:r>
              <a:rPr lang="en-US" sz="3899" dirty="0" err="1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Ollama</a:t>
            </a:r>
            <a:r>
              <a:rPr lang="en-US" sz="38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LLM— all via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07102" y="1100479"/>
            <a:ext cx="16441907" cy="1250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99"/>
              </a:lnSpc>
            </a:pPr>
            <a:r>
              <a:rPr lang="en-US" sz="9999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How it works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3275353"/>
            <a:ext cx="7268975" cy="2922700"/>
            <a:chOff x="0" y="0"/>
            <a:chExt cx="1914463" cy="76976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88656" y="3626723"/>
            <a:ext cx="6149063" cy="21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Upload</a:t>
            </a:r>
          </a:p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Upload any study material that you have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728056" y="6695724"/>
            <a:ext cx="7268975" cy="2922700"/>
            <a:chOff x="0" y="0"/>
            <a:chExt cx="1914463" cy="7697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695724"/>
            <a:ext cx="7268975" cy="2922700"/>
            <a:chOff x="0" y="0"/>
            <a:chExt cx="1914463" cy="7697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28056" y="3277724"/>
            <a:ext cx="7268975" cy="2922700"/>
            <a:chOff x="0" y="0"/>
            <a:chExt cx="1914463" cy="7697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4463" cy="769765"/>
            </a:xfrm>
            <a:custGeom>
              <a:avLst/>
              <a:gdLst/>
              <a:ahLst/>
              <a:cxnLst/>
              <a:rect l="l" t="t" r="r" b="b"/>
              <a:pathLst>
                <a:path w="1914463" h="769765">
                  <a:moveTo>
                    <a:pt x="54318" y="0"/>
                  </a:moveTo>
                  <a:lnTo>
                    <a:pt x="1860144" y="0"/>
                  </a:lnTo>
                  <a:cubicBezTo>
                    <a:pt x="1890144" y="0"/>
                    <a:pt x="1914463" y="24319"/>
                    <a:pt x="1914463" y="54318"/>
                  </a:cubicBezTo>
                  <a:lnTo>
                    <a:pt x="1914463" y="715446"/>
                  </a:lnTo>
                  <a:cubicBezTo>
                    <a:pt x="1914463" y="745446"/>
                    <a:pt x="1890144" y="769765"/>
                    <a:pt x="1860144" y="769765"/>
                  </a:cubicBezTo>
                  <a:lnTo>
                    <a:pt x="54318" y="769765"/>
                  </a:lnTo>
                  <a:cubicBezTo>
                    <a:pt x="24319" y="769765"/>
                    <a:pt x="0" y="745446"/>
                    <a:pt x="0" y="715446"/>
                  </a:cubicBezTo>
                  <a:lnTo>
                    <a:pt x="0" y="54318"/>
                  </a:lnTo>
                  <a:cubicBezTo>
                    <a:pt x="0" y="24319"/>
                    <a:pt x="24319" y="0"/>
                    <a:pt x="54318" y="0"/>
                  </a:cubicBezTo>
                  <a:close/>
                </a:path>
              </a:pathLst>
            </a:custGeom>
            <a:solidFill>
              <a:srgbClr val="ACBCC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914463" cy="807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44000" y="3626723"/>
            <a:ext cx="6149063" cy="21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Extract</a:t>
            </a:r>
          </a:p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System pulls out topics and questions for the quizzes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8656" y="7045778"/>
            <a:ext cx="6149063" cy="21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Assess</a:t>
            </a:r>
          </a:p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Take a quiz built from the data you submitted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88012" y="7048149"/>
            <a:ext cx="6149063" cy="214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1" dirty="0">
                <a:solidFill>
                  <a:srgbClr val="00000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Track</a:t>
            </a:r>
          </a:p>
          <a:p>
            <a:pPr algn="ctr">
              <a:lnSpc>
                <a:spcPts val="5739"/>
              </a:lnSpc>
            </a:pPr>
            <a:r>
              <a:rPr lang="en-US" sz="4099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track you progress and prepare for the exams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39472-EDA3-DD6C-9039-BCA9660812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7400" y="0"/>
            <a:ext cx="12023766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8889D0-C944-100A-A35D-30CB85123A85}"/>
              </a:ext>
            </a:extLst>
          </p:cNvPr>
          <p:cNvSpPr txBox="1"/>
          <p:nvPr/>
        </p:nvSpPr>
        <p:spPr>
          <a:xfrm>
            <a:off x="1600200" y="30726"/>
            <a:ext cx="15316200" cy="46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T Marxiana Antigua" panose="020B0604020202020204" charset="0"/>
              </a:rPr>
              <a:t>Question Bank Extraction Pipeline                                            Notes Extraction Pipeline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711359-EC22-104E-CE75-51ADE9221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457" y="30726"/>
            <a:ext cx="8085852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0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4514-82F9-5B73-D4FB-288A8ACA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0734600-5A33-0741-B824-AA18D1D94D8E}"/>
              </a:ext>
            </a:extLst>
          </p:cNvPr>
          <p:cNvSpPr txBox="1"/>
          <p:nvPr/>
        </p:nvSpPr>
        <p:spPr>
          <a:xfrm>
            <a:off x="-152400" y="190500"/>
            <a:ext cx="1661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T Marxiana Antigua" panose="020B0604020202020204" charset="0"/>
              </a:rPr>
              <a:t>   Quiz and Schedule Generation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8671B-3D1E-952A-EE14-0A49348E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4413"/>
            <a:ext cx="9495692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37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3732628" y="495300"/>
            <a:ext cx="10822744" cy="165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9"/>
              </a:lnSpc>
            </a:pPr>
            <a:r>
              <a:rPr lang="en-US" sz="13097" dirty="0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Future Scope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1CCF24-A780-8FC8-7F5B-118A00B734D6}"/>
              </a:ext>
            </a:extLst>
          </p:cNvPr>
          <p:cNvSpPr txBox="1"/>
          <p:nvPr/>
        </p:nvSpPr>
        <p:spPr>
          <a:xfrm>
            <a:off x="457200" y="3162300"/>
            <a:ext cx="17068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Improve handwritten text recognition and extend support for additional document formats such as Jupyter Notebook (.</a:t>
            </a:r>
            <a:r>
              <a:rPr lang="en-US" sz="3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ipynb</a:t>
            </a: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files.</a:t>
            </a:r>
          </a:p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Enhance NLP-based topic extraction, topic classification, and question-to-topic mapping to identify topics more accurately from different study materials.</a:t>
            </a:r>
          </a:p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Develop more advanced adaptive quizzes that dynamically adjust question difficulty and topic selection based on the student's previous accuracy, response time, and weak areas.</a:t>
            </a:r>
          </a:p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Implement continuously personalized study plans that automatically update after each quiz based on the student's latest performance, weak topics, and learning progress.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3095591" y="4310774"/>
            <a:ext cx="12096818" cy="209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41"/>
              </a:lnSpc>
            </a:pPr>
            <a:r>
              <a:rPr lang="en-US" sz="16567">
                <a:solidFill>
                  <a:srgbClr val="3F5163"/>
                </a:solidFill>
                <a:latin typeface="TT Marxiana Antigua"/>
                <a:ea typeface="TT Marxiana Antigua"/>
                <a:cs typeface="TT Marxiana Antigua"/>
                <a:sym typeface="TT Marxiana Antigu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275</Words>
  <Application>Microsoft Office PowerPoint</Application>
  <PresentationFormat>Custom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TT Marxiana Antigua</vt:lpstr>
      <vt:lpstr>Source Sans Pro Bold</vt:lpstr>
      <vt:lpstr>Calibri</vt:lpstr>
      <vt:lpstr>Source Sans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Exam Preparation &amp; Performance Analyzer</dc:title>
  <cp:lastModifiedBy>aryan1212 patel</cp:lastModifiedBy>
  <cp:revision>5</cp:revision>
  <dcterms:created xsi:type="dcterms:W3CDTF">2006-08-16T00:00:00Z</dcterms:created>
  <dcterms:modified xsi:type="dcterms:W3CDTF">2026-08-08T00:45:01Z</dcterms:modified>
  <dc:identifier>DAHRcWnTJ3E</dc:identifier>
</cp:coreProperties>
</file>